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A3C4AF"/>
                </a:solidFill>
                <a:latin typeface="Consolas"/>
              </a:defRPr>
            </a:pPr>
            <a:r>
              <a:t>[ PROJECT IDENTIFIER: MEDI-VISION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0"/>
            </a:pPr>
          </a:p>
          <a:p>
            <a:pPr>
              <a:defRPr sz="5400" b="1">
                <a:solidFill>
                  <a:srgbClr val="F5F5F5"/>
                </a:solidFill>
                <a:latin typeface="Arial Black"/>
              </a:defRPr>
            </a:pPr>
            <a:r>
              <a:t>MEDIVISION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A3C4AF"/>
                </a:solidFill>
                <a:latin typeface="Arial"/>
              </a:defRPr>
            </a:pPr>
            <a:r>
              <a:t>INTELLIGENT CLINICAL COLLABORATION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F5F5"/>
                </a:solidFill>
                <a:latin typeface="Consolas"/>
              </a:defRPr>
            </a:pPr>
            <a:r>
              <a:t>Integrating OpenMEDLab Foundation Models &amp; MixFormer (CVPR 2022).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F5F5F5"/>
                </a:solidFill>
                <a:latin typeface="Arial Black"/>
              </a:defRPr>
            </a:pPr>
            <a:r>
              <a:t>OPENMEDLAB FOUNDATION MODELS.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A3C4AF"/>
                </a:solidFill>
                <a:latin typeface="Arial"/>
              </a:defRPr>
            </a:pPr>
            <a:r>
              <a:t>[ARCHITECTURE] MEDICAL-SPECIFIC AI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F5F5"/>
                </a:solidFill>
                <a:latin typeface="Consolas"/>
              </a:defRPr>
            </a:pPr>
            <a:r>
              <a:t>We are transitioning from generic YOLO detection to highly specialized Medical Foundation Models:</a:t>
            </a:r>
            <a:br/>
            <a:br/>
            <a:r>
              <a:t>✦ SAM-Med2D/3D: Segment Anything Model adapted for CT volumetric &amp; pixel-level medical segmentation.</a:t>
            </a:r>
            <a:br/>
            <a:r>
              <a:t>✦ RETFound: Retinal image foundation model trained on 1.6M images using MAE (ViT-Large).</a:t>
            </a:r>
            <a:br/>
            <a:r>
              <a:t>✦ Endo-FM: Video Transformer with dynamic spatial-temporal positional encoding for Endoscopy.</a:t>
            </a:r>
            <a:br/>
            <a:r>
              <a:t>✦ PULSE LLM: Multi-task Vision-Language framework for clinical NLP and report generation.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3200400" cy="1371600"/>
          </a:xfrm>
          <a:prstGeom prst="rect">
            <a:avLst/>
          </a:prstGeom>
          <a:solidFill>
            <a:srgbClr val="1C1C1C"/>
          </a:solidFill>
          <a:ln w="381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4000">
                <a:solidFill>
                  <a:srgbClr val="A3C4AF"/>
                </a:solidFill>
                <a:latin typeface="Arial Black"/>
              </a:defRPr>
            </a:pPr>
            <a:r>
              <a:t>1.6M+</a:t>
            </a:r>
          </a:p>
          <a:p>
            <a:pPr algn="ctr">
              <a:defRPr sz="1400">
                <a:solidFill>
                  <a:srgbClr val="F5F5F5"/>
                </a:solidFill>
                <a:latin typeface="Consolas"/>
              </a:defRPr>
            </a:pPr>
            <a:r>
              <a:t>RETINAL VIT SCANS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5029200"/>
            <a:ext cx="3200400" cy="1371600"/>
          </a:xfrm>
          <a:prstGeom prst="rect">
            <a:avLst/>
          </a:prstGeom>
          <a:solidFill>
            <a:srgbClr val="1C1C1C"/>
          </a:solidFill>
          <a:ln w="381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4000">
                <a:solidFill>
                  <a:srgbClr val="A3C4AF"/>
                </a:solidFill>
                <a:latin typeface="Arial Black"/>
              </a:defRPr>
            </a:pPr>
            <a:r>
              <a:t>3D</a:t>
            </a:r>
          </a:p>
          <a:p>
            <a:pPr algn="ctr">
              <a:defRPr sz="1400">
                <a:solidFill>
                  <a:srgbClr val="F5F5F5"/>
                </a:solidFill>
                <a:latin typeface="Consolas"/>
              </a:defRPr>
            </a:pPr>
            <a:r>
              <a:t>VOLUMETRIC SEGMENTATION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5029200"/>
            <a:ext cx="3200400" cy="1371600"/>
          </a:xfrm>
          <a:prstGeom prst="rect">
            <a:avLst/>
          </a:prstGeom>
          <a:solidFill>
            <a:srgbClr val="1C1C1C"/>
          </a:solidFill>
          <a:ln w="381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4000">
                <a:solidFill>
                  <a:srgbClr val="A3C4AF"/>
                </a:solidFill>
                <a:latin typeface="Arial Black"/>
              </a:defRPr>
            </a:pPr>
            <a:r>
              <a:t>NLP</a:t>
            </a:r>
          </a:p>
          <a:p>
            <a:pPr algn="ctr">
              <a:defRPr sz="1400">
                <a:solidFill>
                  <a:srgbClr val="F5F5F5"/>
                </a:solidFill>
                <a:latin typeface="Consolas"/>
              </a:defRPr>
            </a:pPr>
            <a:r>
              <a:t>PULSE MEDICAL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F5F5F5"/>
                </a:solidFill>
                <a:latin typeface="Arial Black"/>
              </a:defRPr>
            </a:pPr>
            <a:r>
              <a:t>MIXFORMER (CVPR 2022 SOTA).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A3C4AF"/>
                </a:solidFill>
                <a:latin typeface="Arial"/>
              </a:defRPr>
            </a:pPr>
            <a:r>
              <a:t>[TRACKING] REAL-TIME LESION TEMPORAL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F5F5"/>
                </a:solidFill>
                <a:latin typeface="Consolas"/>
              </a:defRPr>
            </a:pPr>
            <a:r>
              <a:t>MixFormer introduces End-to-End Tracking with Iterative Mixed Attention (MAM):</a:t>
            </a:r>
            <a:br/>
            <a:br/>
            <a:r>
              <a:t>➢ SOTA ARCHITECTURE: Replaces traditional 'extract features -&gt; correlate' with simultaneous target-search integration.</a:t>
            </a:r>
            <a:br/>
            <a:r>
              <a:t>➢ MIXED ATTENTION MODULE (MAM): Computes Self-Attention and Cross-Attention concurrently in a unified block.</a:t>
            </a:r>
            <a:br/>
            <a:r>
              <a:t>➢ LIVE SURGERY: Enables robust, frame-by-frame lesion tracking during live clinical video streams.</a:t>
            </a:r>
            <a:br/>
            <a:r>
              <a:t>➢ LOCALIZATION HEAD: DETR-inspired learnable regression token requiring ZERO post-processing.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3200400" cy="1371600"/>
          </a:xfrm>
          <a:prstGeom prst="rect">
            <a:avLst/>
          </a:prstGeom>
          <a:solidFill>
            <a:srgbClr val="1C1C1C"/>
          </a:solidFill>
          <a:ln w="381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4000">
                <a:solidFill>
                  <a:srgbClr val="A3C4AF"/>
                </a:solidFill>
                <a:latin typeface="Arial Black"/>
              </a:defRPr>
            </a:pPr>
            <a:r>
              <a:t>86.1%</a:t>
            </a:r>
          </a:p>
          <a:p>
            <a:pPr algn="ctr">
              <a:defRPr sz="1400">
                <a:solidFill>
                  <a:srgbClr val="F5F5F5"/>
                </a:solidFill>
                <a:latin typeface="Consolas"/>
              </a:defRPr>
            </a:pPr>
            <a:r>
              <a:t>TRACKINGNET AUC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5029200"/>
            <a:ext cx="3200400" cy="1371600"/>
          </a:xfrm>
          <a:prstGeom prst="rect">
            <a:avLst/>
          </a:prstGeom>
          <a:solidFill>
            <a:srgbClr val="1C1C1C"/>
          </a:solidFill>
          <a:ln w="381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4000">
                <a:solidFill>
                  <a:srgbClr val="A3C4AF"/>
                </a:solidFill>
                <a:latin typeface="Arial Black"/>
              </a:defRPr>
            </a:pPr>
            <a:r>
              <a:t>0.584</a:t>
            </a:r>
          </a:p>
          <a:p>
            <a:pPr algn="ctr">
              <a:defRPr sz="1400">
                <a:solidFill>
                  <a:srgbClr val="F5F5F5"/>
                </a:solidFill>
                <a:latin typeface="Consolas"/>
              </a:defRPr>
            </a:pPr>
            <a:r>
              <a:t>VOT2020 EAO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5029200"/>
            <a:ext cx="3200400" cy="1371600"/>
          </a:xfrm>
          <a:prstGeom prst="rect">
            <a:avLst/>
          </a:prstGeom>
          <a:solidFill>
            <a:srgbClr val="1C1C1C"/>
          </a:solidFill>
          <a:ln w="381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4000">
                <a:solidFill>
                  <a:srgbClr val="A3C4AF"/>
                </a:solidFill>
                <a:latin typeface="Arial Black"/>
              </a:defRPr>
            </a:pPr>
            <a:r>
              <a:t>LIVE</a:t>
            </a:r>
          </a:p>
          <a:p>
            <a:pPr algn="ctr">
              <a:defRPr sz="1400">
                <a:solidFill>
                  <a:srgbClr val="F5F5F5"/>
                </a:solidFill>
                <a:latin typeface="Consolas"/>
              </a:defRPr>
            </a:pPr>
            <a:r>
              <a:t>WEB-RTC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F5F5F5"/>
                </a:solidFill>
                <a:latin typeface="Arial Black"/>
              </a:defRPr>
            </a:pPr>
            <a:r>
              <a:t>SYSTEM ARCHITECTURE FLOW.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22860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600">
                <a:solidFill>
                  <a:srgbClr val="1C1C1C"/>
                </a:solidFill>
                <a:latin typeface="Consolas"/>
              </a:defRPr>
            </a:pPr>
            <a:r>
              <a:t>MEDICAL INPUT</a:t>
            </a:r>
            <a:br/>
            <a:r>
              <a:t>(Still / Video)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2560320"/>
            <a:ext cx="914400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0" y="1645920"/>
            <a:ext cx="274320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A3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600">
                <a:solidFill>
                  <a:srgbClr val="F5F5F5"/>
                </a:solidFill>
                <a:latin typeface="Consolas"/>
              </a:defRPr>
            </a:pPr>
            <a:r>
              <a:t>OPENMEDLAB</a:t>
            </a:r>
            <a:br/>
            <a:r>
              <a:t>SAM-Med2D/3D (Seg)</a:t>
            </a:r>
            <a:br/>
            <a:r>
              <a:t>RETFound / Endo-FM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926080"/>
            <a:ext cx="274320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A3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600">
                <a:solidFill>
                  <a:srgbClr val="F5F5F5"/>
                </a:solidFill>
                <a:latin typeface="Consolas"/>
              </a:defRPr>
            </a:pPr>
            <a:r>
              <a:t>MIXFORMER (CVPR 2022)</a:t>
            </a:r>
            <a:br/>
            <a:r>
              <a:t>Real-Time Lesion</a:t>
            </a:r>
            <a:br/>
            <a:r>
              <a:t>Tracking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206240"/>
            <a:ext cx="274320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A3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600">
                <a:solidFill>
                  <a:srgbClr val="F5F5F5"/>
                </a:solidFill>
                <a:latin typeface="Consolas"/>
              </a:defRPr>
            </a:pPr>
            <a:r>
              <a:t>PULSE LLM</a:t>
            </a:r>
            <a:br/>
            <a:r>
              <a:t>Medical NLP</a:t>
            </a:r>
            <a:br/>
            <a:r>
              <a:t>Report Generation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657600" y="2103120"/>
            <a:ext cx="0" cy="45720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2560320"/>
            <a:ext cx="0" cy="210312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2103120"/>
            <a:ext cx="457200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" y="4663440"/>
            <a:ext cx="457200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2103120"/>
            <a:ext cx="914400" cy="82296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3383280"/>
            <a:ext cx="914400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858000" y="3840480"/>
            <a:ext cx="914400" cy="82296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772400" y="2560320"/>
            <a:ext cx="3200400" cy="1645920"/>
          </a:xfrm>
          <a:prstGeom prst="rect">
            <a:avLst/>
          </a:prstGeom>
          <a:solidFill>
            <a:srgbClr val="1C1C1C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2000">
                <a:solidFill>
                  <a:srgbClr val="A3C4AF"/>
                </a:solidFill>
                <a:latin typeface="Consolas"/>
              </a:defRPr>
            </a:pPr>
            <a:r>
              <a:t>MULTI-AGENT</a:t>
            </a:r>
            <a:br/>
            <a:r>
              <a:t>CONSENSUS ENGINE</a:t>
            </a:r>
            <a:br/>
            <a:r>
              <a:t>(Synthesis)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F5F5F5"/>
                </a:solidFill>
                <a:latin typeface="Arial Black"/>
              </a:defRPr>
            </a:pPr>
            <a:r>
              <a:t>CORE PIPELINE INNOVATIONS.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5F5F5"/>
                </a:solidFill>
                <a:latin typeface="Consolas"/>
              </a:defRPr>
            </a:pPr>
            <a:r>
              <a:t>WHY MEDIVISION STANDS APART:</a:t>
            </a:r>
            <a:br/>
            <a:br/>
            <a:r>
              <a:t>➢ LIQUID CANVAS UI: Interactive WebGL-inspired fluidity minimizing cognitive overhead.</a:t>
            </a:r>
            <a:br/>
            <a:r>
              <a:t>➢ EDGE-AI HYBRID: Client-side MixFormer tracking mixed with secure cloud validation.</a:t>
            </a:r>
            <a:br/>
            <a:r>
              <a:t>➢ OPENMED PIPELINES: Not just bounding boxes—native pixel-level segmentation &amp; 3D CT volumetrics.</a:t>
            </a:r>
            <a:br/>
            <a:r>
              <a:t>➢ ASYMMETRIC ENCRYPTION: HIPAA-compliant peer-to-peer WebSocket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A3C4AF"/>
                </a:solidFill>
              </a:defRPr>
            </a:pPr>
          </a:p>
          <a:p>
            <a:pPr>
              <a:defRPr sz="5400" b="1">
                <a:solidFill>
                  <a:srgbClr val="F5F5F5"/>
                </a:solidFill>
                <a:latin typeface="Arial Black"/>
              </a:defRPr>
            </a:pPr>
            <a:r>
              <a:t>CREATE. DIAGNOSE. HEAL. TOGETHER.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11480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  <a:p>
            <a:pPr>
              <a:defRPr sz="1800">
                <a:solidFill>
                  <a:srgbClr val="F5F5F5"/>
                </a:solidFill>
                <a:latin typeface="Consolas"/>
              </a:defRPr>
            </a:pPr>
            <a:r>
              <a:t>MEDIVISION AI. // SYSTEM INITIALIZED.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